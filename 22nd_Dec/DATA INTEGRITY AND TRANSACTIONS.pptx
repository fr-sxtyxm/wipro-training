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Spectral"/>
      <p:regular r:id="rId27"/>
      <p:bold r:id="rId28"/>
      <p:italic r:id="rId29"/>
      <p:boldItalic r:id="rId30"/>
    </p:embeddedFont>
    <p:embeddedFont>
      <p:font typeface="Spectral SemiBold"/>
      <p:regular r:id="rId31"/>
      <p:bold r:id="rId32"/>
      <p:italic r:id="rId33"/>
      <p:boldItalic r:id="rId34"/>
    </p:embeddedFont>
    <p:embeddedFont>
      <p:font typeface="Spectral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Spectral-bold.fntdata"/><Relationship Id="rId27" Type="http://schemas.openxmlformats.org/officeDocument/2006/relationships/font" Target="fonts/Spectra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ectral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ectralSemiBold-regular.fntdata"/><Relationship Id="rId30" Type="http://schemas.openxmlformats.org/officeDocument/2006/relationships/font" Target="fonts/Spectral-boldItalic.fntdata"/><Relationship Id="rId11" Type="http://schemas.openxmlformats.org/officeDocument/2006/relationships/slide" Target="slides/slide6.xml"/><Relationship Id="rId33" Type="http://schemas.openxmlformats.org/officeDocument/2006/relationships/font" Target="fonts/SpectralSemiBold-italic.fntdata"/><Relationship Id="rId10" Type="http://schemas.openxmlformats.org/officeDocument/2006/relationships/slide" Target="slides/slide5.xml"/><Relationship Id="rId32" Type="http://schemas.openxmlformats.org/officeDocument/2006/relationships/font" Target="fonts/SpectralSemiBold-bold.fntdata"/><Relationship Id="rId13" Type="http://schemas.openxmlformats.org/officeDocument/2006/relationships/slide" Target="slides/slide8.xml"/><Relationship Id="rId35" Type="http://schemas.openxmlformats.org/officeDocument/2006/relationships/font" Target="fonts/SpectralMedium-regular.fntdata"/><Relationship Id="rId12" Type="http://schemas.openxmlformats.org/officeDocument/2006/relationships/slide" Target="slides/slide7.xml"/><Relationship Id="rId34" Type="http://schemas.openxmlformats.org/officeDocument/2006/relationships/font" Target="fonts/Spectral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SpectralMedium-italic.fntdata"/><Relationship Id="rId14" Type="http://schemas.openxmlformats.org/officeDocument/2006/relationships/slide" Target="slides/slide9.xml"/><Relationship Id="rId36" Type="http://schemas.openxmlformats.org/officeDocument/2006/relationships/font" Target="fonts/Spectral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SpectralMedium-boldItalic.fntdata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3126c9c0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3126c9c0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3126c9c0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3126c9c0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3126c9c0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3126c9c0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3126c9c0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3126c9c0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3126c9c0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3126c9c0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126c9c0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126c9c0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3126c9c0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3126c9c0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3126c9c0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3126c9c0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3126c9c0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3126c9c0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3126c9c0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3126c9c0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3126c9c09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3126c9c09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3126c9c0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3126c9c0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INTEGRITY AND TRANSACTIONS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8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Satyam Kumar Maurya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811600" y="594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Data Integrity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811600" y="1323100"/>
            <a:ext cx="7688700" cy="36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Spectral SemiBold"/>
                <a:ea typeface="Spectral SemiBold"/>
                <a:cs typeface="Spectral SemiBold"/>
                <a:sym typeface="Spectral SemiBold"/>
              </a:rPr>
              <a:t>Data integrity is data’s accuracy, completeness, consistency, and validity over its entire life cycle. Data integrity ensures that data stored in a database is accurate, consistent, and reliable throughout its lifecycle.</a:t>
            </a:r>
            <a:endParaRPr sz="2000">
              <a:latin typeface="Spectral SemiBold"/>
              <a:ea typeface="Spectral SemiBold"/>
              <a:cs typeface="Spectral SemiBold"/>
              <a:sym typeface="Spectral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Spectral SemiBold"/>
              <a:ea typeface="Spectral SemiBold"/>
              <a:cs typeface="Spectral SemiBold"/>
              <a:sym typeface="Spectral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1" y="0"/>
            <a:ext cx="91369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7650" y="552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transaction?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1358300"/>
            <a:ext cx="7688700" cy="3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Spectral SemiBold"/>
                <a:ea typeface="Spectral SemiBold"/>
                <a:cs typeface="Spectral SemiBold"/>
                <a:sym typeface="Spectral SemiBold"/>
              </a:rPr>
              <a:t>A transaction groups one or more database operations into a single logical unit of work that must either fully succeed or fully fail.</a:t>
            </a:r>
            <a:endParaRPr sz="2000">
              <a:latin typeface="Spectral SemiBold"/>
              <a:ea typeface="Spectral SemiBold"/>
              <a:cs typeface="Spectral SemiBold"/>
              <a:sym typeface="Spectral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latin typeface="Spectral SemiBold"/>
                <a:ea typeface="Spectral SemiBold"/>
                <a:cs typeface="Spectral SemiBold"/>
                <a:sym typeface="Spectral SemiBold"/>
              </a:rPr>
              <a:t>A transaction consists of a sequence of operations such as INSERT, UPDATE, DELETE, or SELECT.</a:t>
            </a:r>
            <a:endParaRPr sz="2000">
              <a:latin typeface="Spectral SemiBold"/>
              <a:ea typeface="Spectral SemiBold"/>
              <a:cs typeface="Spectral SemiBold"/>
              <a:sym typeface="Spectral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latin typeface="Spectral SemiBold"/>
                <a:ea typeface="Spectral SemiBold"/>
                <a:cs typeface="Spectral SemiBold"/>
                <a:sym typeface="Spectral SemiBold"/>
              </a:rPr>
              <a:t>Commonly used in banking systems, e-commerce, applications, and reservation systems.</a:t>
            </a:r>
            <a:endParaRPr sz="2000">
              <a:latin typeface="Spectral SemiBold"/>
              <a:ea typeface="Spectral SemiBold"/>
              <a:cs typeface="Spectral SemiBold"/>
              <a:sym typeface="Spectral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Spectral SemiBold"/>
              <a:ea typeface="Spectral SemiBold"/>
              <a:cs typeface="Spectral SemiBold"/>
              <a:sym typeface="Spectral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541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ACID Properties</a:t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1310" r="-1310" t="15261"/>
          <a:stretch/>
        </p:blipFill>
        <p:spPr>
          <a:xfrm>
            <a:off x="1357313" y="1482725"/>
            <a:ext cx="6429375" cy="2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666450" y="623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ACID Properties Brief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666450" y="1284825"/>
            <a:ext cx="7688700" cy="33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20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-GB" sz="2025">
                <a:latin typeface="Spectral"/>
                <a:ea typeface="Spectral"/>
                <a:cs typeface="Spectral"/>
                <a:sym typeface="Spectral"/>
              </a:rPr>
              <a:t>Atomicity </a:t>
            </a:r>
            <a:r>
              <a:rPr lang="en-GB" sz="2025">
                <a:latin typeface="Spectral Medium"/>
                <a:ea typeface="Spectral Medium"/>
                <a:cs typeface="Spectral Medium"/>
                <a:sym typeface="Spectral Medium"/>
              </a:rPr>
              <a:t>: Ensures that all operations in a transaction are completed. If any operation fails, the entire transaction is rolled back.</a:t>
            </a:r>
            <a:endParaRPr b="1" sz="20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20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b="1" lang="en-GB" sz="2025">
                <a:latin typeface="Spectral"/>
                <a:ea typeface="Spectral"/>
                <a:cs typeface="Spectral"/>
                <a:sym typeface="Spectral"/>
              </a:rPr>
              <a:t>Consistency : </a:t>
            </a:r>
            <a:r>
              <a:rPr lang="en-GB" sz="2025">
                <a:latin typeface="Spectral Medium"/>
                <a:ea typeface="Spectral Medium"/>
                <a:cs typeface="Spectral Medium"/>
                <a:sym typeface="Spectral Medium"/>
              </a:rPr>
              <a:t>Ensures that a transaction transforms the database from one valid state to another while enforcing constraints.</a:t>
            </a:r>
            <a:endParaRPr sz="2025"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676950" y="573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ACID Properties Brief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1389800"/>
            <a:ext cx="7688700" cy="29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lang="en-GB" sz="2025">
                <a:latin typeface="Spectral"/>
                <a:ea typeface="Spectral"/>
                <a:cs typeface="Spectral"/>
                <a:sym typeface="Spectral"/>
              </a:rPr>
              <a:t>Isolation:</a:t>
            </a:r>
            <a:r>
              <a:rPr lang="en-GB" sz="2025">
                <a:latin typeface="Spectral Medium"/>
                <a:ea typeface="Spectral Medium"/>
                <a:cs typeface="Spectral Medium"/>
                <a:sym typeface="Spectral Medium"/>
              </a:rPr>
              <a:t> Ensures that concurrent transactions do not affect each other.</a:t>
            </a:r>
            <a:endParaRPr sz="2025"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t/>
            </a:r>
            <a:endParaRPr sz="2025"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lang="en-GB" sz="2025">
                <a:latin typeface="Spectral"/>
                <a:ea typeface="Spectral"/>
                <a:cs typeface="Spectral"/>
                <a:sym typeface="Spectral"/>
              </a:rPr>
              <a:t>Durability:</a:t>
            </a:r>
            <a:r>
              <a:rPr lang="en-GB" sz="2025">
                <a:latin typeface="Spectral Medium"/>
                <a:ea typeface="Spectral Medium"/>
                <a:cs typeface="Spectral Medium"/>
                <a:sym typeface="Spectral Medium"/>
              </a:rPr>
              <a:t> Ensures that committed data is permanently saved.</a:t>
            </a:r>
            <a:endParaRPr sz="2025"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92450" y="1329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Isolation Levels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2040625"/>
            <a:ext cx="7688700" cy="30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●"/>
            </a:pPr>
            <a:r>
              <a:rPr lang="en-GB" sz="1800">
                <a:latin typeface="Spectral"/>
                <a:ea typeface="Spectral"/>
                <a:cs typeface="Spectral"/>
                <a:sym typeface="Spectral"/>
              </a:rPr>
              <a:t>Isolation levels define how database transactions interact with each other when they are executed concurrently.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●"/>
            </a:pPr>
            <a:r>
              <a:rPr lang="en-GB" sz="1800">
                <a:latin typeface="Spectral"/>
                <a:ea typeface="Spectral"/>
                <a:cs typeface="Spectral"/>
                <a:sym typeface="Spectral"/>
              </a:rPr>
              <a:t>They determine the degree to which one transaction can see the changes made by another transaction before it is committed.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●"/>
            </a:pPr>
            <a:r>
              <a:rPr lang="en-GB" sz="1800">
                <a:latin typeface="Spectral"/>
                <a:ea typeface="Spectral"/>
                <a:cs typeface="Spectral"/>
                <a:sym typeface="Spectral"/>
              </a:rPr>
              <a:t>Isolation levels are essential for balancing data consistency, concurrency, and system performance.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645475" y="604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Uncommitted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729450" y="1337300"/>
            <a:ext cx="7688700" cy="30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Read Uncommitted is the lowest isolation level. </a:t>
            </a: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This isolation level provides high performance but very low data reliability and is rarely used in practice.</a:t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At this level, a transaction can read data that has been modified by another transaction but not yet committed.</a:t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This can lead to problems such as:</a:t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- Dirty Reads</a:t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- Inconsistent data results</a:t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645475" y="604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Committed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29450" y="1337300"/>
            <a:ext cx="7688700" cy="30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Read Committed ensures that a transaction can only read data that has already been committed. This prevents dirty reads and improves data reliability.</a:t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However, this level allows:</a:t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- Non-repeatable reads</a:t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- Data changes between queries</a:t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-GB" sz="1612">
                <a:latin typeface="Spectral"/>
                <a:ea typeface="Spectral"/>
                <a:cs typeface="Spectral"/>
                <a:sym typeface="Spectral"/>
              </a:rPr>
              <a:t>Read Committed is commonly used as the default isolation level in many relational database systems.</a:t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612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729450" y="573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Repeatable Read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725">
                <a:latin typeface="Spectral"/>
                <a:ea typeface="Spectral"/>
                <a:cs typeface="Spectral"/>
                <a:sym typeface="Spectral"/>
              </a:rPr>
              <a:t>Repeatable Read isolation level ensures that once a transaction reads a row, the same data is returned if it is read again within the same transaction.</a:t>
            </a:r>
            <a:endParaRPr sz="17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725">
                <a:latin typeface="Spectral"/>
                <a:ea typeface="Spectral"/>
                <a:cs typeface="Spectral"/>
                <a:sym typeface="Spectral"/>
              </a:rPr>
              <a:t>This isolation level prevents</a:t>
            </a:r>
            <a:r>
              <a:rPr b="1" lang="en-GB" sz="1725"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b="1" lang="en-GB" sz="1725">
                <a:latin typeface="Spectral"/>
                <a:ea typeface="Spectral"/>
                <a:cs typeface="Spectral"/>
                <a:sym typeface="Spectral"/>
              </a:rPr>
              <a:t>Dirty Reads &amp; Non-Repeatable Reads</a:t>
            </a:r>
            <a:endParaRPr b="1" sz="17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7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725">
                <a:latin typeface="Spectral"/>
                <a:ea typeface="Spectral"/>
                <a:cs typeface="Spectral"/>
                <a:sym typeface="Spectral"/>
              </a:rPr>
              <a:t>However, it may still allow phantom reads, where new rows matching a query condition appear during the transaction.</a:t>
            </a:r>
            <a:endParaRPr sz="17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-GB" sz="1725">
                <a:latin typeface="Spectral"/>
                <a:ea typeface="Spectral"/>
                <a:cs typeface="Spectral"/>
                <a:sym typeface="Spectral"/>
              </a:rPr>
              <a:t>Repeatable Read provides a balance between data consistency and system performance.</a:t>
            </a:r>
            <a:endParaRPr sz="1725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666475" y="531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Serializable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727650" y="13650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825">
                <a:latin typeface="Spectral"/>
                <a:ea typeface="Spectral"/>
                <a:cs typeface="Spectral"/>
                <a:sym typeface="Spectral"/>
              </a:rPr>
              <a:t>Serializable is the highest isolation level in a database system. It ensures complete isolation between transactions by making them execute as if they were run one after another in a sequence.</a:t>
            </a:r>
            <a:endParaRPr sz="18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8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825">
                <a:latin typeface="Spectral"/>
                <a:ea typeface="Spectral"/>
                <a:cs typeface="Spectral"/>
                <a:sym typeface="Spectral"/>
              </a:rPr>
              <a:t>This isolation level prevents </a:t>
            </a:r>
            <a:r>
              <a:rPr b="1" lang="en-GB" sz="1825">
                <a:latin typeface="Spectral"/>
                <a:ea typeface="Spectral"/>
                <a:cs typeface="Spectral"/>
                <a:sym typeface="Spectral"/>
              </a:rPr>
              <a:t>Dirty Reads, Non-Repeatable Reads, Phantom Reads</a:t>
            </a:r>
            <a:endParaRPr b="1" sz="18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8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825">
                <a:latin typeface="Spectral"/>
                <a:ea typeface="Spectral"/>
                <a:cs typeface="Spectral"/>
                <a:sym typeface="Spectral"/>
              </a:rPr>
              <a:t>Serializable guarantees maximum data consistency but may</a:t>
            </a:r>
            <a:endParaRPr sz="18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1825">
                <a:latin typeface="Spectral"/>
                <a:ea typeface="Spectral"/>
                <a:cs typeface="Spectral"/>
                <a:sym typeface="Spectral"/>
              </a:rPr>
              <a:t>significantly reduce performance due to strict locking</a:t>
            </a:r>
            <a:endParaRPr sz="1825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-GB" sz="1825">
                <a:latin typeface="Spectral"/>
                <a:ea typeface="Spectral"/>
                <a:cs typeface="Spectral"/>
                <a:sym typeface="Spectral"/>
              </a:rPr>
              <a:t>and reduced concurrency.</a:t>
            </a:r>
            <a:endParaRPr sz="1825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727650" y="1822500"/>
            <a:ext cx="7688700" cy="24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/>
              <a:t>THANK YOU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